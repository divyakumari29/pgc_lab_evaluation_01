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Design" id="{0f8a37d3-0c6f-1982-5dd0-90aef9b68e97}">
          <p14:sldIdLst>
            <p14:sldId id="256"/>
            <p14:sldId id="257"/>
          </p14:sldIdLst>
        </p14:section>
        <p14:section name="Implementation" id="{1f3c2ede-e26c-20a1-5db5-a4447a2c7baa}">
          <p14:sldIdLst>
            <p14:sldId id="258"/>
          </p14:sldIdLst>
        </p14:section>
        <p14:section name="Results" id="{b7884f72-6a1d-407c-bed1-7713f7b33c5d}">
          <p14:sldIdLst>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Local sum per process (total = 1360)</a:t>
            </a:r>
          </a:p>
        </c:rich>
      </c:tx>
      <c:layout/>
      <c:overlay val="0"/>
    </c:title>
    <c:autoTitleDeleted val="0"/>
    <c:plotArea>
      <c:layout/>
      <c:barChart>
        <c:barDir val="col"/>
        <c:grouping val="clustered"/>
        <c:varyColors val="0"/>
        <c:ser>
          <c:idx val="0"/>
          <c:order val="0"/>
          <c:tx>
            <c:strRef>
              <c:f>Sheet1!$B$1</c:f>
              <c:strCache>
                <c:ptCount val="1"/>
                <c:pt idx="0">
                  <c:v>Local sum</c:v>
                </c:pt>
              </c:strCache>
            </c:strRef>
          </c:tx>
          <c:spPr>
            <a:solidFill>
              <a:srgbClr val="0FA3A3"/>
            </a:solidFill>
            <a:effectLst/>
          </c:spPr>
          <c:invertIfNegative val="0"/>
          <c:dLbls>
            <c:numFmt formatCode="#,##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cat>
            <c:multiLvlStrRef>
              <c:f>Sheet1!$A$2:$A$5</c:f>
              <c:multiLvlStrCache>
                <c:ptCount val="4"/>
                <c:lvl>
                  <c:pt idx="0">
                    <c:v>Rank 0</c:v>
                  </c:pt>
                  <c:pt idx="1">
                    <c:v>Rank 1</c:v>
                  </c:pt>
                  <c:pt idx="2">
                    <c:v>Rank 2</c:v>
                  </c:pt>
                  <c:pt idx="3">
                    <c:v>Rank 3</c:v>
                  </c:pt>
                </c:lvl>
              </c:multiLvlStrCache>
            </c:multiLvlStrRef>
          </c:cat>
          <c:val>
            <c:numRef>
              <c:f>Sheet1!$B$2:$B$5</c:f>
              <c:numCache>
                <c:formatCode>General</c:formatCode>
                <c:ptCount val="4"/>
                <c:pt idx="0">
                  <c:v>100</c:v>
                </c:pt>
                <c:pt idx="1">
                  <c:v>260</c:v>
                </c:pt>
                <c:pt idx="2">
                  <c:v>420</c:v>
                </c:pt>
                <c:pt idx="3">
                  <c:v>580</c:v>
                </c:pt>
              </c:numCache>
            </c:numRef>
          </c:val>
        </c:ser>
        <c:dLbls>
          <c:numFmt formatCode="#,##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1F33"/>
                </a:solidFill>
                <a:latin typeface="+mn-lt"/>
              </a:defRPr>
            </a:pPr>
            <a:endParaRPr lang="en-US"/>
          </a:p>
        </c:txPr>
        <c:crossAx val="2094734552"/>
        <c:crosses val="autoZero"/>
        <c:auto val="1"/>
        <c:lblAlgn val="ctr"/>
        <c:noMultiLvlLbl val="1"/>
      </c:catAx>
      <c:valAx>
        <c:axId val="2094734552"/>
        <c:scaling>
          <c:orientation val="minMax"/>
          <c:max val="700"/>
        </c:scaling>
        <c:delete val="0"/>
        <c:axPos val="l"/>
        <c:majorGridlines>
          <c:spPr>
            <a:ln w="9525" cap="flat">
              <a:solidFill>
                <a:srgbClr val="DD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B1F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1 - problem definition. Theme 6: compute sum, average, maximum and minimum of a dataset using MPI. The dataset has 16 numbers, 10 to 160. We use 4 processes: 1 master and 3 workers. MPI processes have separate memory, so data must be sent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1 - sequential algorithm and parallel design. Sequential: one loop over N numbers, O(N). Parallel: decompose the 16 numbers into 4 equal blocks, MPI_Scatter sends one block to each rank, each rank computes local sum, max and min, then MPI_Reduce with SUM, MAX and MIN combines them on Rank 0, which computes the average. Every rank gets the same amount of work so the load is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2 - working parallel implementation. Master is rank 0, workers are ranks 1 to 3. The same program runs on every node. MPI_Scatter gives 4 integers to each rank, each rank finds its local sum, max and min, and three MPI_Reduce calls combine them on Rank 0. The program checks that exactly 4 processes are used. Compile with mpicc, copy to the workers with scp, run with mpirun and the hostfile.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rank computed a partial sum: 100, 260, 420 and 580. MPI_Reduce combined them into 1360. Average is 85.00, maximum 160, minimum 10. These match the manual calculation, so the program is correct. The Authorization required lines in the terminal are an X11 display warning and do not affect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16 numbers the communication cost is larger than the computation, so no speedup is expected. For large datasets each process handles many more elements and parallel execution becomes faster. Future work: bigger data, timing with MPI_Wtime, MPI_Scatterv for uneven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822960"/>
            <a:ext cx="3566160" cy="2011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1"/>
          <p:cNvSpPr/>
          <p:nvPr>
            <p:ph idx="102" type="body" hasCustomPrompt="1"/>
          </p:nvPr>
        </p:nvSpPr>
        <p:spPr>
          <a:xfrm>
            <a:off x="548640" y="2926080"/>
            <a:ext cx="3566160" cy="731520"/>
          </a:xfrm>
          <a:prstGeom prst="rect">
            <a:avLst/>
          </a:prstGeom>
          <a:noFill/>
          <a:ln/>
        </p:spPr>
        <p:txBody>
          <a:bodyPr wrap="square" rtlCol="0"/>
          <a:lstStyle>
            <a:lvl1pPr algn="l" indent="0" marL="0">
              <a:buNone/>
              <a:defRPr lang="en-US" sz="1600" dirty="0">
                <a:solidFill>
                  <a:schemeClr val="accent1"/>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PGC Lab Evaluation  |  Theme 6  |  B1 Team 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457200" y="320040"/>
            <a:ext cx="822960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PGC Lab Evaluation  |  Theme 6  |  B1 Team 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822960"/>
            <a:ext cx="3566160" cy="2011680"/>
          </a:xfrm>
          <a:prstGeom prst="rect">
            <a:avLst/>
          </a:prstGeom>
          <a:noFill/>
          <a:ln/>
        </p:spPr>
        <p:txBody>
          <a:bodyPr wrap="square" lIns="0" tIns="0" rIns="0" bIns="0" rtlCol="0" anchor="t"/>
          <a:lstStyle/>
          <a:p>
            <a:pPr algn="l" indent="0" marL="0">
              <a:buNone/>
            </a:pPr>
            <a:r>
              <a:rPr lang="en-US" sz="3200" b="1" dirty="0">
                <a:solidFill>
                  <a:schemeClr val="bg1"/>
                </a:solidFill>
              </a:rPr>
              <a:t>Distributed Dataset Statistics using MPI</a:t>
            </a:r>
            <a:endParaRPr lang="en-US" sz="3200" dirty="0"/>
          </a:p>
        </p:txBody>
      </p:sp>
      <p:sp>
        <p:nvSpPr>
          <p:cNvPr id="3" name="Text 1"/>
          <p:cNvSpPr/>
          <p:nvPr>
            <p:ph idx="102" type="body" hasCustomPrompt="1"/>
          </p:nvPr>
        </p:nvSpPr>
        <p:spPr>
          <a:xfrm>
            <a:off x="548640" y="2926080"/>
            <a:ext cx="3566160" cy="731520"/>
          </a:xfrm>
          <a:prstGeom prst="rect">
            <a:avLst/>
          </a:prstGeom>
          <a:noFill/>
          <a:ln/>
        </p:spPr>
        <p:txBody>
          <a:bodyPr wrap="square" lIns="0" tIns="0" rIns="0" bIns="0" rtlCol="0" anchor="t"/>
          <a:lstStyle/>
          <a:p>
            <a:pPr algn="l" indent="0" marL="0">
              <a:buNone/>
            </a:pPr>
            <a:r>
              <a:rPr lang="en-US" sz="1600" dirty="0">
                <a:solidFill>
                  <a:schemeClr val="accent1"/>
                </a:solidFill>
              </a:rPr>
              <a:t>PGC Lab Evaluation | Theme 6</a:t>
            </a:r>
            <a:endParaRPr lang="en-US" sz="1600" dirty="0"/>
          </a:p>
        </p:txBody>
      </p:sp>
      <p:sp>
        <p:nvSpPr>
          <p:cNvPr id="4" name="Text 2"/>
          <p:cNvSpPr txBox="1"/>
          <p:nvPr/>
        </p:nvSpPr>
        <p:spPr>
          <a:xfrm>
            <a:off x="548640" y="3931920"/>
            <a:ext cx="3566160" cy="365760"/>
          </a:xfrm>
          <a:prstGeom prst="rect">
            <a:avLst/>
          </a:prstGeom>
          <a:noFill/>
          <a:ln/>
        </p:spPr>
        <p:txBody>
          <a:bodyPr wrap="square" lIns="0" tIns="0" rIns="0" bIns="0" rtlCol="0" anchor="ctr"/>
          <a:lstStyle/>
          <a:p>
            <a:pPr indent="0" marL="0">
              <a:buNone/>
            </a:pPr>
            <a:r>
              <a:rPr lang="en-US" sz="1600" b="1" dirty="0">
                <a:solidFill>
                  <a:schemeClr val="bg1"/>
                </a:solidFill>
              </a:rPr>
              <a:t>B1 Team 6</a:t>
            </a:r>
            <a:endParaRPr lang="en-US" sz="1600" dirty="0"/>
          </a:p>
        </p:txBody>
      </p:sp>
      <p:sp>
        <p:nvSpPr>
          <p:cNvPr id="5" name="Info card Problem"/>
          <p:cNvSpPr/>
          <p:nvPr/>
        </p:nvSpPr>
        <p:spPr>
          <a:xfrm>
            <a:off x="4572000" y="457200"/>
            <a:ext cx="4114800" cy="1280160"/>
          </a:xfrm>
          <a:prstGeom prst="roundRect">
            <a:avLst>
              <a:gd name="adj" fmla="val 7143"/>
            </a:avLst>
          </a:prstGeom>
          <a:solidFill>
            <a:schemeClr val="tx2"/>
          </a:solidFill>
          <a:ln/>
        </p:spPr>
      </p:sp>
      <p:sp>
        <p:nvSpPr>
          <p:cNvPr id="6" name="Text 4"/>
          <p:cNvSpPr txBox="1"/>
          <p:nvPr/>
        </p:nvSpPr>
        <p:spPr>
          <a:xfrm>
            <a:off x="4754880" y="548640"/>
            <a:ext cx="3749040" cy="320040"/>
          </a:xfrm>
          <a:prstGeom prst="rect">
            <a:avLst/>
          </a:prstGeom>
          <a:noFill/>
          <a:ln/>
        </p:spPr>
        <p:txBody>
          <a:bodyPr wrap="square" lIns="0" tIns="0" rIns="0" bIns="0" rtlCol="0" anchor="ctr"/>
          <a:lstStyle/>
          <a:p>
            <a:pPr indent="0" marL="0">
              <a:buNone/>
            </a:pPr>
            <a:r>
              <a:rPr lang="en-US" sz="1600" b="1" dirty="0">
                <a:solidFill>
                  <a:schemeClr val="accent1"/>
                </a:solidFill>
              </a:rPr>
              <a:t>Problem</a:t>
            </a:r>
            <a:endParaRPr lang="en-US" sz="1600" dirty="0"/>
          </a:p>
        </p:txBody>
      </p:sp>
      <p:sp>
        <p:nvSpPr>
          <p:cNvPr id="7" name="Text 5"/>
          <p:cNvSpPr txBox="1"/>
          <p:nvPr/>
        </p:nvSpPr>
        <p:spPr>
          <a:xfrm>
            <a:off x="4754880" y="886968"/>
            <a:ext cx="3749040" cy="777240"/>
          </a:xfrm>
          <a:prstGeom prst="rect">
            <a:avLst/>
          </a:prstGeom>
          <a:noFill/>
          <a:ln/>
        </p:spPr>
        <p:txBody>
          <a:bodyPr wrap="square" lIns="0" tIns="0" rIns="0" bIns="0" rtlCol="0" anchor="t"/>
          <a:lstStyle/>
          <a:p>
            <a:pPr indent="0" marL="0">
              <a:buNone/>
            </a:pPr>
            <a:r>
              <a:rPr lang="en-US" sz="1400" dirty="0">
                <a:solidFill>
                  <a:schemeClr val="bg1"/>
                </a:solidFill>
              </a:rPr>
              <a:t>Find the Sum, Average, Maximum and Minimum of a dataset (N = 16: 10, 20 ... 160) using MPI processes.</a:t>
            </a:r>
            <a:endParaRPr lang="en-US" sz="1400" dirty="0"/>
          </a:p>
        </p:txBody>
      </p:sp>
      <p:sp>
        <p:nvSpPr>
          <p:cNvPr id="8" name="Info card Objective"/>
          <p:cNvSpPr/>
          <p:nvPr/>
        </p:nvSpPr>
        <p:spPr>
          <a:xfrm>
            <a:off x="4572000" y="1874520"/>
            <a:ext cx="4114800" cy="1280160"/>
          </a:xfrm>
          <a:prstGeom prst="roundRect">
            <a:avLst>
              <a:gd name="adj" fmla="val 7143"/>
            </a:avLst>
          </a:prstGeom>
          <a:solidFill>
            <a:schemeClr val="tx2"/>
          </a:solidFill>
          <a:ln/>
        </p:spPr>
      </p:sp>
      <p:sp>
        <p:nvSpPr>
          <p:cNvPr id="9" name="Text 7"/>
          <p:cNvSpPr txBox="1"/>
          <p:nvPr/>
        </p:nvSpPr>
        <p:spPr>
          <a:xfrm>
            <a:off x="4754880" y="1965960"/>
            <a:ext cx="3749040" cy="320040"/>
          </a:xfrm>
          <a:prstGeom prst="rect">
            <a:avLst/>
          </a:prstGeom>
          <a:noFill/>
          <a:ln/>
        </p:spPr>
        <p:txBody>
          <a:bodyPr wrap="square" lIns="0" tIns="0" rIns="0" bIns="0" rtlCol="0" anchor="ctr"/>
          <a:lstStyle/>
          <a:p>
            <a:pPr indent="0" marL="0">
              <a:buNone/>
            </a:pPr>
            <a:r>
              <a:rPr lang="en-US" sz="1600" b="1" dirty="0">
                <a:solidFill>
                  <a:schemeClr val="accent1"/>
                </a:solidFill>
              </a:rPr>
              <a:t>Objective</a:t>
            </a:r>
            <a:endParaRPr lang="en-US" sz="1600" dirty="0"/>
          </a:p>
        </p:txBody>
      </p:sp>
      <p:sp>
        <p:nvSpPr>
          <p:cNvPr id="10" name="Text 8"/>
          <p:cNvSpPr txBox="1"/>
          <p:nvPr/>
        </p:nvSpPr>
        <p:spPr>
          <a:xfrm>
            <a:off x="4754880" y="2304288"/>
            <a:ext cx="3749040" cy="777240"/>
          </a:xfrm>
          <a:prstGeom prst="rect">
            <a:avLst/>
          </a:prstGeom>
          <a:noFill/>
          <a:ln/>
        </p:spPr>
        <p:txBody>
          <a:bodyPr wrap="square" lIns="0" tIns="0" rIns="0" bIns="0" rtlCol="0" anchor="t"/>
          <a:lstStyle/>
          <a:p>
            <a:pPr indent="0" marL="0">
              <a:buNone/>
            </a:pPr>
            <a:r>
              <a:rPr lang="en-US" sz="1400" dirty="0">
                <a:solidFill>
                  <a:schemeClr val="bg1"/>
                </a:solidFill>
              </a:rPr>
              <a:t>Split the data across 4 MPI processes on 1 master + 3 worker VMs, compute in parallel, then combine the results.</a:t>
            </a:r>
            <a:endParaRPr lang="en-US" sz="1400" dirty="0"/>
          </a:p>
        </p:txBody>
      </p:sp>
      <p:sp>
        <p:nvSpPr>
          <p:cNvPr id="11" name="Info card Why parallel?"/>
          <p:cNvSpPr/>
          <p:nvPr/>
        </p:nvSpPr>
        <p:spPr>
          <a:xfrm>
            <a:off x="4572000" y="3291840"/>
            <a:ext cx="4114800" cy="1280160"/>
          </a:xfrm>
          <a:prstGeom prst="roundRect">
            <a:avLst>
              <a:gd name="adj" fmla="val 7143"/>
            </a:avLst>
          </a:prstGeom>
          <a:solidFill>
            <a:schemeClr val="tx2"/>
          </a:solidFill>
          <a:ln/>
        </p:spPr>
      </p:sp>
      <p:sp>
        <p:nvSpPr>
          <p:cNvPr id="12" name="Text 10"/>
          <p:cNvSpPr txBox="1"/>
          <p:nvPr/>
        </p:nvSpPr>
        <p:spPr>
          <a:xfrm>
            <a:off x="4754880" y="3383280"/>
            <a:ext cx="3749040" cy="320040"/>
          </a:xfrm>
          <a:prstGeom prst="rect">
            <a:avLst/>
          </a:prstGeom>
          <a:noFill/>
          <a:ln/>
        </p:spPr>
        <p:txBody>
          <a:bodyPr wrap="square" lIns="0" tIns="0" rIns="0" bIns="0" rtlCol="0" anchor="ctr"/>
          <a:lstStyle/>
          <a:p>
            <a:pPr indent="0" marL="0">
              <a:buNone/>
            </a:pPr>
            <a:r>
              <a:rPr lang="en-US" sz="1600" b="1" dirty="0">
                <a:solidFill>
                  <a:schemeClr val="accent1"/>
                </a:solidFill>
              </a:rPr>
              <a:t>Why parallel?</a:t>
            </a:r>
            <a:endParaRPr lang="en-US" sz="1600" dirty="0"/>
          </a:p>
        </p:txBody>
      </p:sp>
      <p:sp>
        <p:nvSpPr>
          <p:cNvPr id="13" name="Text 11"/>
          <p:cNvSpPr txBox="1"/>
          <p:nvPr/>
        </p:nvSpPr>
        <p:spPr>
          <a:xfrm>
            <a:off x="4754880" y="3721608"/>
            <a:ext cx="3749040" cy="777240"/>
          </a:xfrm>
          <a:prstGeom prst="rect">
            <a:avLst/>
          </a:prstGeom>
          <a:noFill/>
          <a:ln/>
        </p:spPr>
        <p:txBody>
          <a:bodyPr wrap="square" lIns="0" tIns="0" rIns="0" bIns="0" rtlCol="0" anchor="t"/>
          <a:lstStyle/>
          <a:p>
            <a:pPr indent="0" marL="0">
              <a:buNone/>
            </a:pPr>
            <a:r>
              <a:rPr lang="en-US" sz="1400" dirty="0">
                <a:solidFill>
                  <a:schemeClr val="bg1"/>
                </a:solidFill>
              </a:rPr>
              <a:t>One CPU needs N steps. MPI processes have separate memory, so data is sent and combined explicitly.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Sequential Algorithm and Parallel Design</a:t>
            </a:r>
            <a:endParaRPr lang="en-US" sz="3400" dirty="0"/>
          </a:p>
        </p:txBody>
      </p:sp>
      <p:sp>
        <p:nvSpPr>
          <p:cNvPr id="3" name="Sequential card"/>
          <p:cNvSpPr/>
          <p:nvPr/>
        </p:nvSpPr>
        <p:spPr>
          <a:xfrm>
            <a:off x="457200" y="1188720"/>
            <a:ext cx="3291840" cy="3337560"/>
          </a:xfrm>
          <a:prstGeom prst="roundRect">
            <a:avLst>
              <a:gd name="adj" fmla="val 2778"/>
            </a:avLst>
          </a:prstGeom>
          <a:solidFill>
            <a:schemeClr val="tx1"/>
          </a:solidFill>
          <a:ln/>
        </p:spPr>
      </p:sp>
      <p:sp>
        <p:nvSpPr>
          <p:cNvPr id="4" name="Text 2"/>
          <p:cNvSpPr txBox="1"/>
          <p:nvPr/>
        </p:nvSpPr>
        <p:spPr>
          <a:xfrm>
            <a:off x="640080" y="1298448"/>
            <a:ext cx="2926080" cy="320040"/>
          </a:xfrm>
          <a:prstGeom prst="rect">
            <a:avLst/>
          </a:prstGeom>
          <a:noFill/>
          <a:ln/>
        </p:spPr>
        <p:txBody>
          <a:bodyPr wrap="square" lIns="0" tIns="0" rIns="0" bIns="0" rtlCol="0" anchor="ctr"/>
          <a:lstStyle/>
          <a:p>
            <a:pPr indent="0" marL="0">
              <a:buNone/>
            </a:pPr>
            <a:r>
              <a:rPr lang="en-US" sz="1600" b="1" dirty="0">
                <a:solidFill>
                  <a:schemeClr val="accent1"/>
                </a:solidFill>
              </a:rPr>
              <a:t>Sequential algorithm</a:t>
            </a:r>
            <a:endParaRPr lang="en-US" sz="1600" dirty="0"/>
          </a:p>
        </p:txBody>
      </p:sp>
      <p:sp>
        <p:nvSpPr>
          <p:cNvPr id="5" name="Text 3"/>
          <p:cNvSpPr txBox="1"/>
          <p:nvPr/>
        </p:nvSpPr>
        <p:spPr>
          <a:xfrm>
            <a:off x="640080" y="1691640"/>
            <a:ext cx="2926080" cy="210312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sum = 0</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max = min = data[0]</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for i = 0 to N-1: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sum += data[i]</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max = MAX(max, data[i])</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min = MIN(min, data[i])</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average = sum / N</a:t>
            </a:r>
            <a:endParaRPr lang="en-US" sz="1400" dirty="0"/>
          </a:p>
        </p:txBody>
      </p:sp>
      <p:sp>
        <p:nvSpPr>
          <p:cNvPr id="6" name="Text 4"/>
          <p:cNvSpPr txBox="1"/>
          <p:nvPr/>
        </p:nvSpPr>
        <p:spPr>
          <a:xfrm>
            <a:off x="640080" y="3931920"/>
            <a:ext cx="2926080" cy="457200"/>
          </a:xfrm>
          <a:prstGeom prst="rect">
            <a:avLst/>
          </a:prstGeom>
          <a:noFill/>
          <a:ln/>
        </p:spPr>
        <p:txBody>
          <a:bodyPr wrap="square" lIns="0" tIns="0" rIns="0" bIns="0" rtlCol="0" anchor="ctr"/>
          <a:lstStyle/>
          <a:p>
            <a:pPr indent="0" marL="0">
              <a:buNone/>
            </a:pPr>
            <a:r>
              <a:rPr lang="en-US" sz="1400" b="1" dirty="0">
                <a:solidFill>
                  <a:schemeClr val="accent1"/>
                </a:solidFill>
              </a:rPr>
              <a:t>Time: O(N) on one CPU</a:t>
            </a:r>
            <a:endParaRPr lang="en-US" sz="1400" dirty="0"/>
          </a:p>
        </p:txBody>
      </p:sp>
      <p:sp>
        <p:nvSpPr>
          <p:cNvPr id="7" name="Text 5"/>
          <p:cNvSpPr txBox="1"/>
          <p:nvPr/>
        </p:nvSpPr>
        <p:spPr>
          <a:xfrm>
            <a:off x="3931920" y="1188720"/>
            <a:ext cx="4754880" cy="320040"/>
          </a:xfrm>
          <a:prstGeom prst="rect">
            <a:avLst/>
          </a:prstGeom>
          <a:noFill/>
          <a:ln/>
        </p:spPr>
        <p:txBody>
          <a:bodyPr wrap="square" lIns="0" tIns="0" rIns="0" bIns="0" rtlCol="0" anchor="ctr"/>
          <a:lstStyle/>
          <a:p>
            <a:pPr indent="0" marL="0">
              <a:buNone/>
            </a:pPr>
            <a:r>
              <a:rPr lang="en-US" sz="1600" b="1" dirty="0">
                <a:solidFill>
                  <a:schemeClr val="tx1"/>
                </a:solidFill>
              </a:rPr>
              <a:t>Parallel design (MPI)</a:t>
            </a:r>
            <a:endParaRPr lang="en-US" sz="1600" dirty="0"/>
          </a:p>
        </p:txBody>
      </p:sp>
      <p:sp>
        <p:nvSpPr>
          <p:cNvPr id="8" name="Data box"/>
          <p:cNvSpPr/>
          <p:nvPr/>
        </p:nvSpPr>
        <p:spPr>
          <a:xfrm>
            <a:off x="5120640" y="1600200"/>
            <a:ext cx="2377440" cy="365760"/>
          </a:xfrm>
          <a:prstGeom prst="roundRect">
            <a:avLst>
              <a:gd name="adj" fmla="val 20000"/>
            </a:avLst>
          </a:prstGeom>
          <a:solidFill>
            <a:schemeClr val="accent1"/>
          </a:solidFill>
          <a:ln/>
        </p:spPr>
      </p:sp>
      <p:sp>
        <p:nvSpPr>
          <p:cNvPr id="9" name="Text 7"/>
          <p:cNvSpPr txBox="1"/>
          <p:nvPr/>
        </p:nvSpPr>
        <p:spPr>
          <a:xfrm>
            <a:off x="5120640" y="1600200"/>
            <a:ext cx="2377440" cy="365760"/>
          </a:xfrm>
          <a:prstGeom prst="rect">
            <a:avLst/>
          </a:prstGeom>
          <a:noFill/>
          <a:ln/>
        </p:spPr>
        <p:txBody>
          <a:bodyPr wrap="square" lIns="0" tIns="0" rIns="0" bIns="0" rtlCol="0" anchor="ctr"/>
          <a:lstStyle/>
          <a:p>
            <a:pPr algn="ctr" indent="0" marL="0">
              <a:buNone/>
            </a:pPr>
            <a:r>
              <a:rPr lang="en-US" sz="1400" b="1" dirty="0">
                <a:solidFill>
                  <a:schemeClr val="tx1"/>
                </a:solidFill>
              </a:rPr>
              <a:t>data[16] on Rank 0</a:t>
            </a:r>
            <a:endParaRPr lang="en-US" sz="1400" dirty="0"/>
          </a:p>
        </p:txBody>
      </p:sp>
      <p:sp>
        <p:nvSpPr>
          <p:cNvPr id="10" name="Scatter arrow 0"/>
          <p:cNvSpPr/>
          <p:nvPr/>
        </p:nvSpPr>
        <p:spPr>
          <a:xfrm flipH="1">
            <a:off x="4466844" y="1965960"/>
            <a:ext cx="1842516" cy="411480"/>
          </a:xfrm>
          <a:prstGeom prst="line">
            <a:avLst/>
          </a:prstGeom>
          <a:noFill/>
          <a:ln w="19050">
            <a:solidFill>
              <a:schemeClr val="accent4"/>
            </a:solidFill>
            <a:prstDash val="solid"/>
            <a:tailEnd type="triangle"/>
          </a:ln>
        </p:spPr>
      </p:sp>
      <p:sp>
        <p:nvSpPr>
          <p:cNvPr id="11" name="Reduce arrow 0"/>
          <p:cNvSpPr/>
          <p:nvPr/>
        </p:nvSpPr>
        <p:spPr>
          <a:xfrm>
            <a:off x="4466844" y="3108960"/>
            <a:ext cx="1842516" cy="365760"/>
          </a:xfrm>
          <a:prstGeom prst="line">
            <a:avLst/>
          </a:prstGeom>
          <a:noFill/>
          <a:ln w="19050">
            <a:solidFill>
              <a:schemeClr val="accent4"/>
            </a:solidFill>
            <a:prstDash val="solid"/>
            <a:tailEnd type="triangle"/>
          </a:ln>
        </p:spPr>
      </p:sp>
      <p:sp>
        <p:nvSpPr>
          <p:cNvPr id="12" name="Rank box 0"/>
          <p:cNvSpPr/>
          <p:nvPr/>
        </p:nvSpPr>
        <p:spPr>
          <a:xfrm>
            <a:off x="3931920" y="2377440"/>
            <a:ext cx="1069848" cy="731520"/>
          </a:xfrm>
          <a:prstGeom prst="roundRect">
            <a:avLst>
              <a:gd name="adj" fmla="val 10000"/>
            </a:avLst>
          </a:prstGeom>
          <a:solidFill>
            <a:schemeClr val="accent3"/>
          </a:solidFill>
          <a:ln/>
        </p:spPr>
      </p:sp>
      <p:sp>
        <p:nvSpPr>
          <p:cNvPr id="13" name="Text 11"/>
          <p:cNvSpPr txBox="1"/>
          <p:nvPr/>
        </p:nvSpPr>
        <p:spPr>
          <a:xfrm>
            <a:off x="3931920" y="2377440"/>
            <a:ext cx="1069848" cy="731520"/>
          </a:xfrm>
          <a:prstGeom prst="rect">
            <a:avLst/>
          </a:prstGeom>
          <a:noFill/>
          <a:ln/>
        </p:spPr>
        <p:txBody>
          <a:bodyPr wrap="square" lIns="0" tIns="0" rIns="0" bIns="0" rtlCol="0" anchor="ctr"/>
          <a:lstStyle/>
          <a:p>
            <a:pPr algn="ctr" indent="0" marL="0">
              <a:buNone/>
            </a:pPr>
            <a:r>
              <a:rPr lang="en-US" sz="1400" b="1" dirty="0">
                <a:solidFill>
                  <a:schemeClr val="bg1"/>
                </a:solidFill>
              </a:rPr>
              <a:t>Rank 0</a:t>
            </a:r>
            <a:endParaRPr lang="en-US" sz="1400" dirty="0"/>
          </a:p>
          <a:p>
            <a:pPr algn="ctr" indent="0" marL="0">
              <a:buNone/>
            </a:pPr>
            <a:r>
              <a:rPr lang="en-US" sz="1400" dirty="0">
                <a:solidFill>
                  <a:schemeClr val="bg1"/>
                </a:solidFill>
              </a:rPr>
              <a:t>10–40</a:t>
            </a:r>
            <a:endParaRPr lang="en-US" sz="1400" dirty="0"/>
          </a:p>
        </p:txBody>
      </p:sp>
      <p:sp>
        <p:nvSpPr>
          <p:cNvPr id="14" name="Scatter arrow 1"/>
          <p:cNvSpPr/>
          <p:nvPr/>
        </p:nvSpPr>
        <p:spPr>
          <a:xfrm flipH="1">
            <a:off x="5692140" y="1965960"/>
            <a:ext cx="617220" cy="411480"/>
          </a:xfrm>
          <a:prstGeom prst="line">
            <a:avLst/>
          </a:prstGeom>
          <a:noFill/>
          <a:ln w="19050">
            <a:solidFill>
              <a:schemeClr val="accent4"/>
            </a:solidFill>
            <a:prstDash val="solid"/>
            <a:tailEnd type="triangle"/>
          </a:ln>
        </p:spPr>
      </p:sp>
      <p:sp>
        <p:nvSpPr>
          <p:cNvPr id="15" name="Reduce arrow 1"/>
          <p:cNvSpPr/>
          <p:nvPr/>
        </p:nvSpPr>
        <p:spPr>
          <a:xfrm>
            <a:off x="5692140" y="3108960"/>
            <a:ext cx="617220" cy="365760"/>
          </a:xfrm>
          <a:prstGeom prst="line">
            <a:avLst/>
          </a:prstGeom>
          <a:noFill/>
          <a:ln w="19050">
            <a:solidFill>
              <a:schemeClr val="accent4"/>
            </a:solidFill>
            <a:prstDash val="solid"/>
            <a:tailEnd type="triangle"/>
          </a:ln>
        </p:spPr>
      </p:sp>
      <p:sp>
        <p:nvSpPr>
          <p:cNvPr id="16" name="Rank box 1"/>
          <p:cNvSpPr/>
          <p:nvPr/>
        </p:nvSpPr>
        <p:spPr>
          <a:xfrm>
            <a:off x="5157216" y="2377440"/>
            <a:ext cx="1069848" cy="731520"/>
          </a:xfrm>
          <a:prstGeom prst="roundRect">
            <a:avLst>
              <a:gd name="adj" fmla="val 10000"/>
            </a:avLst>
          </a:prstGeom>
          <a:solidFill>
            <a:schemeClr val="accent3"/>
          </a:solidFill>
          <a:ln/>
        </p:spPr>
      </p:sp>
      <p:sp>
        <p:nvSpPr>
          <p:cNvPr id="17" name="Text 15"/>
          <p:cNvSpPr txBox="1"/>
          <p:nvPr/>
        </p:nvSpPr>
        <p:spPr>
          <a:xfrm>
            <a:off x="5157216" y="2377440"/>
            <a:ext cx="1069848" cy="731520"/>
          </a:xfrm>
          <a:prstGeom prst="rect">
            <a:avLst/>
          </a:prstGeom>
          <a:noFill/>
          <a:ln/>
        </p:spPr>
        <p:txBody>
          <a:bodyPr wrap="square" lIns="0" tIns="0" rIns="0" bIns="0" rtlCol="0" anchor="ctr"/>
          <a:lstStyle/>
          <a:p>
            <a:pPr algn="ctr" indent="0" marL="0">
              <a:buNone/>
            </a:pPr>
            <a:r>
              <a:rPr lang="en-US" sz="1400" b="1" dirty="0">
                <a:solidFill>
                  <a:schemeClr val="bg1"/>
                </a:solidFill>
              </a:rPr>
              <a:t>Rank 1</a:t>
            </a:r>
            <a:endParaRPr lang="en-US" sz="1400" dirty="0"/>
          </a:p>
          <a:p>
            <a:pPr algn="ctr" indent="0" marL="0">
              <a:buNone/>
            </a:pPr>
            <a:r>
              <a:rPr lang="en-US" sz="1400" dirty="0">
                <a:solidFill>
                  <a:schemeClr val="bg1"/>
                </a:solidFill>
              </a:rPr>
              <a:t>50–80</a:t>
            </a:r>
            <a:endParaRPr lang="en-US" sz="1400" dirty="0"/>
          </a:p>
        </p:txBody>
      </p:sp>
      <p:sp>
        <p:nvSpPr>
          <p:cNvPr id="18" name="Scatter arrow 2"/>
          <p:cNvSpPr/>
          <p:nvPr/>
        </p:nvSpPr>
        <p:spPr>
          <a:xfrm>
            <a:off x="6309360" y="1965960"/>
            <a:ext cx="608076" cy="411480"/>
          </a:xfrm>
          <a:prstGeom prst="line">
            <a:avLst/>
          </a:prstGeom>
          <a:noFill/>
          <a:ln w="19050">
            <a:solidFill>
              <a:schemeClr val="accent4"/>
            </a:solidFill>
            <a:prstDash val="solid"/>
            <a:tailEnd type="triangle"/>
          </a:ln>
        </p:spPr>
      </p:sp>
      <p:sp>
        <p:nvSpPr>
          <p:cNvPr id="19" name="Reduce arrow 2"/>
          <p:cNvSpPr/>
          <p:nvPr/>
        </p:nvSpPr>
        <p:spPr>
          <a:xfrm flipH="1">
            <a:off x="6309360" y="3108960"/>
            <a:ext cx="608076" cy="365760"/>
          </a:xfrm>
          <a:prstGeom prst="line">
            <a:avLst/>
          </a:prstGeom>
          <a:noFill/>
          <a:ln w="19050">
            <a:solidFill>
              <a:schemeClr val="accent4"/>
            </a:solidFill>
            <a:prstDash val="solid"/>
            <a:tailEnd type="triangle"/>
          </a:ln>
        </p:spPr>
      </p:sp>
      <p:sp>
        <p:nvSpPr>
          <p:cNvPr id="20" name="Rank box 2"/>
          <p:cNvSpPr/>
          <p:nvPr/>
        </p:nvSpPr>
        <p:spPr>
          <a:xfrm>
            <a:off x="6382512" y="2377440"/>
            <a:ext cx="1069848" cy="731520"/>
          </a:xfrm>
          <a:prstGeom prst="roundRect">
            <a:avLst>
              <a:gd name="adj" fmla="val 10000"/>
            </a:avLst>
          </a:prstGeom>
          <a:solidFill>
            <a:schemeClr val="accent3"/>
          </a:solidFill>
          <a:ln/>
        </p:spPr>
      </p:sp>
      <p:sp>
        <p:nvSpPr>
          <p:cNvPr id="21" name="Text 19"/>
          <p:cNvSpPr txBox="1"/>
          <p:nvPr/>
        </p:nvSpPr>
        <p:spPr>
          <a:xfrm>
            <a:off x="6382512" y="2377440"/>
            <a:ext cx="1069848" cy="731520"/>
          </a:xfrm>
          <a:prstGeom prst="rect">
            <a:avLst/>
          </a:prstGeom>
          <a:noFill/>
          <a:ln/>
        </p:spPr>
        <p:txBody>
          <a:bodyPr wrap="square" lIns="0" tIns="0" rIns="0" bIns="0" rtlCol="0" anchor="ctr"/>
          <a:lstStyle/>
          <a:p>
            <a:pPr algn="ctr" indent="0" marL="0">
              <a:buNone/>
            </a:pPr>
            <a:r>
              <a:rPr lang="en-US" sz="1400" b="1" dirty="0">
                <a:solidFill>
                  <a:schemeClr val="bg1"/>
                </a:solidFill>
              </a:rPr>
              <a:t>Rank 2</a:t>
            </a:r>
            <a:endParaRPr lang="en-US" sz="1400" dirty="0"/>
          </a:p>
          <a:p>
            <a:pPr algn="ctr" indent="0" marL="0">
              <a:buNone/>
            </a:pPr>
            <a:r>
              <a:rPr lang="en-US" sz="1400" dirty="0">
                <a:solidFill>
                  <a:schemeClr val="bg1"/>
                </a:solidFill>
              </a:rPr>
              <a:t>90–120</a:t>
            </a:r>
            <a:endParaRPr lang="en-US" sz="1400" dirty="0"/>
          </a:p>
        </p:txBody>
      </p:sp>
      <p:sp>
        <p:nvSpPr>
          <p:cNvPr id="22" name="Scatter arrow 3"/>
          <p:cNvSpPr/>
          <p:nvPr/>
        </p:nvSpPr>
        <p:spPr>
          <a:xfrm>
            <a:off x="6309360" y="1965960"/>
            <a:ext cx="1833372" cy="411480"/>
          </a:xfrm>
          <a:prstGeom prst="line">
            <a:avLst/>
          </a:prstGeom>
          <a:noFill/>
          <a:ln w="19050">
            <a:solidFill>
              <a:schemeClr val="accent4"/>
            </a:solidFill>
            <a:prstDash val="solid"/>
            <a:tailEnd type="triangle"/>
          </a:ln>
        </p:spPr>
      </p:sp>
      <p:sp>
        <p:nvSpPr>
          <p:cNvPr id="23" name="Reduce arrow 3"/>
          <p:cNvSpPr/>
          <p:nvPr/>
        </p:nvSpPr>
        <p:spPr>
          <a:xfrm flipH="1">
            <a:off x="6309360" y="3108960"/>
            <a:ext cx="1833372" cy="365760"/>
          </a:xfrm>
          <a:prstGeom prst="line">
            <a:avLst/>
          </a:prstGeom>
          <a:noFill/>
          <a:ln w="19050">
            <a:solidFill>
              <a:schemeClr val="accent4"/>
            </a:solidFill>
            <a:prstDash val="solid"/>
            <a:tailEnd type="triangle"/>
          </a:ln>
        </p:spPr>
      </p:sp>
      <p:sp>
        <p:nvSpPr>
          <p:cNvPr id="24" name="Rank box 3"/>
          <p:cNvSpPr/>
          <p:nvPr/>
        </p:nvSpPr>
        <p:spPr>
          <a:xfrm>
            <a:off x="7607808" y="2377440"/>
            <a:ext cx="1069848" cy="731520"/>
          </a:xfrm>
          <a:prstGeom prst="roundRect">
            <a:avLst>
              <a:gd name="adj" fmla="val 10000"/>
            </a:avLst>
          </a:prstGeom>
          <a:solidFill>
            <a:schemeClr val="accent3"/>
          </a:solidFill>
          <a:ln/>
        </p:spPr>
      </p:sp>
      <p:sp>
        <p:nvSpPr>
          <p:cNvPr id="25" name="Text 23"/>
          <p:cNvSpPr txBox="1"/>
          <p:nvPr/>
        </p:nvSpPr>
        <p:spPr>
          <a:xfrm>
            <a:off x="7607808" y="2377440"/>
            <a:ext cx="1069848" cy="731520"/>
          </a:xfrm>
          <a:prstGeom prst="rect">
            <a:avLst/>
          </a:prstGeom>
          <a:noFill/>
          <a:ln/>
        </p:spPr>
        <p:txBody>
          <a:bodyPr wrap="square" lIns="0" tIns="0" rIns="0" bIns="0" rtlCol="0" anchor="ctr"/>
          <a:lstStyle/>
          <a:p>
            <a:pPr algn="ctr" indent="0" marL="0">
              <a:buNone/>
            </a:pPr>
            <a:r>
              <a:rPr lang="en-US" sz="1400" b="1" dirty="0">
                <a:solidFill>
                  <a:schemeClr val="bg1"/>
                </a:solidFill>
              </a:rPr>
              <a:t>Rank 3</a:t>
            </a:r>
            <a:endParaRPr lang="en-US" sz="1400" dirty="0"/>
          </a:p>
          <a:p>
            <a:pPr algn="ctr" indent="0" marL="0">
              <a:buNone/>
            </a:pPr>
            <a:r>
              <a:rPr lang="en-US" sz="1400" dirty="0">
                <a:solidFill>
                  <a:schemeClr val="bg1"/>
                </a:solidFill>
              </a:rPr>
              <a:t>130–160</a:t>
            </a:r>
            <a:endParaRPr lang="en-US" sz="1400" dirty="0"/>
          </a:p>
        </p:txBody>
      </p:sp>
      <p:sp>
        <p:nvSpPr>
          <p:cNvPr id="26" name="Result box"/>
          <p:cNvSpPr/>
          <p:nvPr/>
        </p:nvSpPr>
        <p:spPr>
          <a:xfrm>
            <a:off x="5120640" y="3474720"/>
            <a:ext cx="2377440" cy="365760"/>
          </a:xfrm>
          <a:prstGeom prst="roundRect">
            <a:avLst>
              <a:gd name="adj" fmla="val 20000"/>
            </a:avLst>
          </a:prstGeom>
          <a:solidFill>
            <a:schemeClr val="accent1"/>
          </a:solidFill>
          <a:ln/>
        </p:spPr>
      </p:sp>
      <p:sp>
        <p:nvSpPr>
          <p:cNvPr id="27" name="Text 25"/>
          <p:cNvSpPr txBox="1"/>
          <p:nvPr/>
        </p:nvSpPr>
        <p:spPr>
          <a:xfrm>
            <a:off x="5120640" y="3474720"/>
            <a:ext cx="2377440" cy="365760"/>
          </a:xfrm>
          <a:prstGeom prst="rect">
            <a:avLst/>
          </a:prstGeom>
          <a:noFill/>
          <a:ln/>
        </p:spPr>
        <p:txBody>
          <a:bodyPr wrap="square" lIns="0" tIns="0" rIns="0" bIns="0" rtlCol="0" anchor="ctr"/>
          <a:lstStyle/>
          <a:p>
            <a:pPr algn="ctr" indent="0" marL="0">
              <a:buNone/>
            </a:pPr>
            <a:r>
              <a:rPr lang="en-US" sz="1400" b="1" dirty="0">
                <a:solidFill>
                  <a:schemeClr val="tx1"/>
                </a:solidFill>
              </a:rPr>
              <a:t>Rank 0: final result</a:t>
            </a:r>
            <a:endParaRPr lang="en-US" sz="1400" dirty="0"/>
          </a:p>
        </p:txBody>
      </p:sp>
      <p:sp>
        <p:nvSpPr>
          <p:cNvPr id="28" name="Text 26"/>
          <p:cNvSpPr txBox="1"/>
          <p:nvPr/>
        </p:nvSpPr>
        <p:spPr>
          <a:xfrm>
            <a:off x="7589520" y="1600200"/>
            <a:ext cx="1188720" cy="365760"/>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MPI_Scatter</a:t>
            </a:r>
            <a:endParaRPr lang="en-US" sz="1200" dirty="0"/>
          </a:p>
        </p:txBody>
      </p:sp>
      <p:sp>
        <p:nvSpPr>
          <p:cNvPr id="29" name="Text 27"/>
          <p:cNvSpPr txBox="1"/>
          <p:nvPr/>
        </p:nvSpPr>
        <p:spPr>
          <a:xfrm>
            <a:off x="7589520" y="3474720"/>
            <a:ext cx="1188720" cy="365760"/>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MPI_Reduce</a:t>
            </a:r>
            <a:endParaRPr lang="en-US" sz="1200" dirty="0"/>
          </a:p>
        </p:txBody>
      </p:sp>
      <p:sp>
        <p:nvSpPr>
          <p:cNvPr id="30" name="Text 28"/>
          <p:cNvSpPr txBox="1"/>
          <p:nvPr/>
        </p:nvSpPr>
        <p:spPr>
          <a:xfrm>
            <a:off x="3931920" y="3977640"/>
            <a:ext cx="4754880" cy="548640"/>
          </a:xfrm>
          <a:prstGeom prst="rect">
            <a:avLst/>
          </a:prstGeom>
          <a:noFill/>
          <a:ln/>
        </p:spPr>
        <p:txBody>
          <a:bodyPr wrap="square" lIns="0" tIns="0" rIns="0" bIns="0" rtlCol="0" anchor="ctr"/>
          <a:lstStyle/>
          <a:p>
            <a:pPr indent="0" marL="0">
              <a:buNone/>
            </a:pPr>
            <a:r>
              <a:rPr lang="en-US" sz="1400" dirty="0">
                <a:solidFill>
                  <a:schemeClr val="tx2"/>
                </a:solidFill>
              </a:rPr>
              <a:t>16 ÷ 4 = 4 numbers per rank. Time O(N) becomes O(N/P) plus communication.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Parallel Implementation</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3840480" cy="914400"/>
        </p:xfrm>
        <a:graphic>
          <a:graphicData uri="http://schemas.openxmlformats.org/drawingml/2006/table">
            <a:tbl>
              <a:tblPr/>
              <a:tblGrid>
                <a:gridCol w="640080"/>
                <a:gridCol w="1097280"/>
                <a:gridCol w="2103120"/>
              </a:tblGrid>
              <a:tr h="365760">
                <a:tc>
                  <a:txBody>
                    <a:bodyPr/>
                    <a:lstStyle/>
                    <a:p>
                      <a:pPr indent="0" marL="0">
                        <a:buNone/>
                      </a:pPr>
                      <a:r>
                        <a:rPr lang="en-US" sz="1400" b="1" dirty="0">
                          <a:solidFill>
                            <a:schemeClr val="bg1"/>
                          </a:solidFill>
                        </a:rPr>
                        <a:t>Rank</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Node</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IP Address</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chemeClr val="tx1"/>
                    </a:solidFill>
                  </a:tcPr>
                </a:tc>
              </a:tr>
              <a:tr h="365760">
                <a:tc>
                  <a:txBody>
                    <a:bodyPr/>
                    <a:lstStyle/>
                    <a:p>
                      <a:pPr indent="0" marL="0">
                        <a:buNone/>
                      </a:pPr>
                      <a:r>
                        <a:rPr lang="en-US" sz="1400" dirty="0">
                          <a:solidFill>
                            <a:schemeClr val="tx1"/>
                          </a:solidFill>
                        </a:rPr>
                        <a:t>0</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chemeClr val="tx1"/>
                          </a:solidFill>
                        </a:rPr>
                        <a:t>master</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chemeClr val="tx1"/>
                          </a:solidFill>
                        </a:rPr>
                        <a:t>192.168.125.128</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tcPr>
                </a:tc>
              </a:tr>
              <a:tr h="365760">
                <a:tc>
                  <a:txBody>
                    <a:bodyPr/>
                    <a:lstStyle/>
                    <a:p>
                      <a:pPr indent="0" marL="0">
                        <a:buNone/>
                      </a:pPr>
                      <a:r>
                        <a:rPr lang="en-US" sz="1400" dirty="0">
                          <a:solidFill>
                            <a:schemeClr val="tx1"/>
                          </a:solidFill>
                        </a:rPr>
                        <a:t>1</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worker1</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192.168.125.129</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400" dirty="0">
                          <a:solidFill>
                            <a:schemeClr val="tx1"/>
                          </a:solidFill>
                        </a:rPr>
                        <a:t>2</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chemeClr val="tx1"/>
                          </a:solidFill>
                        </a:rPr>
                        <a:t>worker2</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chemeClr val="tx1"/>
                          </a:solidFill>
                        </a:rPr>
                        <a:t>192.168.125.130</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tcPr>
                </a:tc>
              </a:tr>
              <a:tr h="365760">
                <a:tc>
                  <a:txBody>
                    <a:bodyPr/>
                    <a:lstStyle/>
                    <a:p>
                      <a:pPr indent="0" marL="0">
                        <a:buNone/>
                      </a:pPr>
                      <a:r>
                        <a:rPr lang="en-US" sz="1400" dirty="0">
                          <a:solidFill>
                            <a:schemeClr val="tx1"/>
                          </a:solidFill>
                        </a:rPr>
                        <a:t>3</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worker3</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192.168.125.131</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ext 1"/>
          <p:cNvSpPr txBox="1"/>
          <p:nvPr/>
        </p:nvSpPr>
        <p:spPr>
          <a:xfrm>
            <a:off x="457200" y="3154680"/>
            <a:ext cx="3840480" cy="548640"/>
          </a:xfrm>
          <a:prstGeom prst="rect">
            <a:avLst/>
          </a:prstGeom>
          <a:noFill/>
          <a:ln/>
        </p:spPr>
        <p:txBody>
          <a:bodyPr wrap="square" lIns="0" tIns="0" rIns="0" bIns="0" rtlCol="0" anchor="t"/>
          <a:lstStyle/>
          <a:p>
            <a:pPr indent="0" marL="0">
              <a:buNone/>
            </a:pPr>
            <a:r>
              <a:rPr lang="en-US" sz="1400" dirty="0">
                <a:solidFill>
                  <a:schemeClr val="tx1"/>
                </a:solidFill>
              </a:rPr>
              <a:t>Open MPI on 4 Ubuntu VMs, passwordless SSH, 1 process per node.</a:t>
            </a:r>
            <a:endParaRPr lang="en-US" sz="1400" dirty="0"/>
          </a:p>
        </p:txBody>
      </p:sp>
      <p:sp>
        <p:nvSpPr>
          <p:cNvPr id="5" name="Code card"/>
          <p:cNvSpPr/>
          <p:nvPr/>
        </p:nvSpPr>
        <p:spPr>
          <a:xfrm>
            <a:off x="4526280" y="1188720"/>
            <a:ext cx="4160520" cy="2514600"/>
          </a:xfrm>
          <a:prstGeom prst="roundRect">
            <a:avLst>
              <a:gd name="adj" fmla="val 3636"/>
            </a:avLst>
          </a:prstGeom>
          <a:solidFill>
            <a:schemeClr val="tx1"/>
          </a:solidFill>
          <a:ln/>
        </p:spPr>
      </p:sp>
      <p:sp>
        <p:nvSpPr>
          <p:cNvPr id="6" name="Text 3"/>
          <p:cNvSpPr txBox="1"/>
          <p:nvPr/>
        </p:nvSpPr>
        <p:spPr>
          <a:xfrm>
            <a:off x="4709160" y="1280160"/>
            <a:ext cx="3749040" cy="320040"/>
          </a:xfrm>
          <a:prstGeom prst="rect">
            <a:avLst/>
          </a:prstGeom>
          <a:noFill/>
          <a:ln/>
        </p:spPr>
        <p:txBody>
          <a:bodyPr wrap="square" lIns="0" tIns="0" rIns="0" bIns="0" rtlCol="0" anchor="ctr"/>
          <a:lstStyle/>
          <a:p>
            <a:pPr indent="0" marL="0">
              <a:buNone/>
            </a:pPr>
            <a:r>
              <a:rPr lang="en-US" sz="1400" b="1" dirty="0">
                <a:solidFill>
                  <a:schemeClr val="accent1"/>
                </a:solidFill>
              </a:rPr>
              <a:t>Key code (C + MPI)</a:t>
            </a:r>
            <a:endParaRPr lang="en-US" sz="1400" dirty="0"/>
          </a:p>
        </p:txBody>
      </p:sp>
      <p:sp>
        <p:nvSpPr>
          <p:cNvPr id="7" name="Text 4"/>
          <p:cNvSpPr txBox="1"/>
          <p:nvPr/>
        </p:nvSpPr>
        <p:spPr>
          <a:xfrm>
            <a:off x="4709160" y="1645920"/>
            <a:ext cx="3840480" cy="19659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MPI_Scatter(data, 4, MPI_INT,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local_data, 4, MPI_INT,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0, MPI_COMM_WORLD);</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each rank: local sum, max, min</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MPI_Reduce(&amp;local_sum, &amp;total_sum, 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MPI_INT, MPI_SUM, 0, MPI_COMM_WORLD);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same for MPI_MAX and MPI_MIN</a:t>
            </a:r>
            <a:endParaRPr lang="en-US" sz="1200" dirty="0"/>
          </a:p>
        </p:txBody>
      </p:sp>
      <p:sp>
        <p:nvSpPr>
          <p:cNvPr id="8" name="Commands strip"/>
          <p:cNvSpPr/>
          <p:nvPr/>
        </p:nvSpPr>
        <p:spPr>
          <a:xfrm>
            <a:off x="457200" y="3886200"/>
            <a:ext cx="8229600" cy="685800"/>
          </a:xfrm>
          <a:prstGeom prst="roundRect">
            <a:avLst>
              <a:gd name="adj" fmla="val 13333"/>
            </a:avLst>
          </a:prstGeom>
          <a:solidFill>
            <a:schemeClr val="bg2"/>
          </a:solidFill>
          <a:ln/>
        </p:spPr>
      </p:sp>
      <p:sp>
        <p:nvSpPr>
          <p:cNvPr id="9" name="Text 6"/>
          <p:cNvSpPr txBox="1"/>
          <p:nvPr/>
        </p:nvSpPr>
        <p:spPr>
          <a:xfrm>
            <a:off x="640080" y="3886200"/>
            <a:ext cx="7863840" cy="68580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mpicc -O2 dataset_stats.c -o dataset_stats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mpirun -np 4 --hostfile hosts sh -c '$HOME/dataset_stats'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Results and Verification</a:t>
            </a:r>
            <a:endParaRPr lang="en-US" sz="3400" dirty="0"/>
          </a:p>
        </p:txBody>
      </p:sp>
      <p:graphicFrame>
        <p:nvGraphicFramePr>
          <p:cNvPr id="3" name="Chart 0" descr=""/>
          <p:cNvGraphicFramePr/>
          <p:nvPr/>
        </p:nvGraphicFramePr>
        <p:xfrm>
          <a:off x="457200" y="1143000"/>
          <a:ext cx="4572000" cy="3108960"/>
        </p:xfrm>
        <a:graphic xmlns:a="http://schemas.openxmlformats.org/drawingml/2006/main">
          <a:graphicData uri="http://schemas.openxmlformats.org/drawingml/2006/chart">
            <c:chart xmlns:c="http://schemas.openxmlformats.org/drawingml/2006/chart" r:id="rId1"/>
          </a:graphicData>
        </a:graphic>
      </p:graphicFrame>
      <p:sp>
        <p:nvSpPr>
          <p:cNvPr id="4" name="Stat card Sum"/>
          <p:cNvSpPr/>
          <p:nvPr/>
        </p:nvSpPr>
        <p:spPr>
          <a:xfrm>
            <a:off x="5257800" y="1188720"/>
            <a:ext cx="1600200" cy="1417320"/>
          </a:xfrm>
          <a:prstGeom prst="roundRect">
            <a:avLst>
              <a:gd name="adj" fmla="val 6452"/>
            </a:avLst>
          </a:prstGeom>
          <a:solidFill>
            <a:schemeClr val="tx1"/>
          </a:solidFill>
          <a:ln/>
        </p:spPr>
      </p:sp>
      <p:sp>
        <p:nvSpPr>
          <p:cNvPr id="5" name="Text 2"/>
          <p:cNvSpPr txBox="1"/>
          <p:nvPr/>
        </p:nvSpPr>
        <p:spPr>
          <a:xfrm>
            <a:off x="5257800" y="1371600"/>
            <a:ext cx="1600200" cy="640080"/>
          </a:xfrm>
          <a:prstGeom prst="rect">
            <a:avLst/>
          </a:prstGeom>
          <a:noFill/>
          <a:ln/>
        </p:spPr>
        <p:txBody>
          <a:bodyPr wrap="square" lIns="0" tIns="0" rIns="0" bIns="0" rtlCol="0" anchor="ctr"/>
          <a:lstStyle/>
          <a:p>
            <a:pPr algn="ctr" indent="0" marL="0">
              <a:buNone/>
            </a:pPr>
            <a:r>
              <a:rPr lang="en-US" sz="3800" b="1" dirty="0">
                <a:solidFill>
                  <a:schemeClr val="accent1"/>
                </a:solidFill>
              </a:rPr>
              <a:t>1360</a:t>
            </a:r>
            <a:endParaRPr lang="en-US" sz="3800" dirty="0"/>
          </a:p>
        </p:txBody>
      </p:sp>
      <p:sp>
        <p:nvSpPr>
          <p:cNvPr id="6" name="Text 3"/>
          <p:cNvSpPr txBox="1"/>
          <p:nvPr/>
        </p:nvSpPr>
        <p:spPr>
          <a:xfrm>
            <a:off x="5257800" y="2011680"/>
            <a:ext cx="1600200" cy="365760"/>
          </a:xfrm>
          <a:prstGeom prst="rect">
            <a:avLst/>
          </a:prstGeom>
          <a:noFill/>
          <a:ln/>
        </p:spPr>
        <p:txBody>
          <a:bodyPr wrap="square" lIns="0" tIns="0" rIns="0" bIns="0" rtlCol="0" anchor="ctr"/>
          <a:lstStyle/>
          <a:p>
            <a:pPr algn="ctr" indent="0" marL="0">
              <a:buNone/>
            </a:pPr>
            <a:r>
              <a:rPr lang="en-US" sz="1400" dirty="0">
                <a:solidFill>
                  <a:schemeClr val="bg1"/>
                </a:solidFill>
              </a:rPr>
              <a:t>Sum</a:t>
            </a:r>
            <a:endParaRPr lang="en-US" sz="1400" dirty="0"/>
          </a:p>
        </p:txBody>
      </p:sp>
      <p:sp>
        <p:nvSpPr>
          <p:cNvPr id="7" name="Stat card Average"/>
          <p:cNvSpPr/>
          <p:nvPr/>
        </p:nvSpPr>
        <p:spPr>
          <a:xfrm>
            <a:off x="7040880" y="1188720"/>
            <a:ext cx="1600200" cy="1417320"/>
          </a:xfrm>
          <a:prstGeom prst="roundRect">
            <a:avLst>
              <a:gd name="adj" fmla="val 6452"/>
            </a:avLst>
          </a:prstGeom>
          <a:solidFill>
            <a:schemeClr val="tx1"/>
          </a:solidFill>
          <a:ln/>
        </p:spPr>
      </p:sp>
      <p:sp>
        <p:nvSpPr>
          <p:cNvPr id="8" name="Text 5"/>
          <p:cNvSpPr txBox="1"/>
          <p:nvPr/>
        </p:nvSpPr>
        <p:spPr>
          <a:xfrm>
            <a:off x="7040880" y="1371600"/>
            <a:ext cx="1600200" cy="640080"/>
          </a:xfrm>
          <a:prstGeom prst="rect">
            <a:avLst/>
          </a:prstGeom>
          <a:noFill/>
          <a:ln/>
        </p:spPr>
        <p:txBody>
          <a:bodyPr wrap="square" lIns="0" tIns="0" rIns="0" bIns="0" rtlCol="0" anchor="ctr"/>
          <a:lstStyle/>
          <a:p>
            <a:pPr algn="ctr" indent="0" marL="0">
              <a:buNone/>
            </a:pPr>
            <a:r>
              <a:rPr lang="en-US" sz="3800" b="1" dirty="0">
                <a:solidFill>
                  <a:schemeClr val="accent1"/>
                </a:solidFill>
              </a:rPr>
              <a:t>85.00</a:t>
            </a:r>
            <a:endParaRPr lang="en-US" sz="3800" dirty="0"/>
          </a:p>
        </p:txBody>
      </p:sp>
      <p:sp>
        <p:nvSpPr>
          <p:cNvPr id="9" name="Text 6"/>
          <p:cNvSpPr txBox="1"/>
          <p:nvPr/>
        </p:nvSpPr>
        <p:spPr>
          <a:xfrm>
            <a:off x="7040880" y="2011680"/>
            <a:ext cx="1600200" cy="365760"/>
          </a:xfrm>
          <a:prstGeom prst="rect">
            <a:avLst/>
          </a:prstGeom>
          <a:noFill/>
          <a:ln/>
        </p:spPr>
        <p:txBody>
          <a:bodyPr wrap="square" lIns="0" tIns="0" rIns="0" bIns="0" rtlCol="0" anchor="ctr"/>
          <a:lstStyle/>
          <a:p>
            <a:pPr algn="ctr" indent="0" marL="0">
              <a:buNone/>
            </a:pPr>
            <a:r>
              <a:rPr lang="en-US" sz="1400" dirty="0">
                <a:solidFill>
                  <a:schemeClr val="bg1"/>
                </a:solidFill>
              </a:rPr>
              <a:t>Average</a:t>
            </a:r>
            <a:endParaRPr lang="en-US" sz="1400" dirty="0"/>
          </a:p>
        </p:txBody>
      </p:sp>
      <p:sp>
        <p:nvSpPr>
          <p:cNvPr id="10" name="Stat card Maximum"/>
          <p:cNvSpPr/>
          <p:nvPr/>
        </p:nvSpPr>
        <p:spPr>
          <a:xfrm>
            <a:off x="5257800" y="2788920"/>
            <a:ext cx="1600200" cy="1417320"/>
          </a:xfrm>
          <a:prstGeom prst="roundRect">
            <a:avLst>
              <a:gd name="adj" fmla="val 6452"/>
            </a:avLst>
          </a:prstGeom>
          <a:solidFill>
            <a:schemeClr val="tx1"/>
          </a:solidFill>
          <a:ln/>
        </p:spPr>
      </p:sp>
      <p:sp>
        <p:nvSpPr>
          <p:cNvPr id="11" name="Text 8"/>
          <p:cNvSpPr txBox="1"/>
          <p:nvPr/>
        </p:nvSpPr>
        <p:spPr>
          <a:xfrm>
            <a:off x="5257800" y="2971800"/>
            <a:ext cx="1600200" cy="640080"/>
          </a:xfrm>
          <a:prstGeom prst="rect">
            <a:avLst/>
          </a:prstGeom>
          <a:noFill/>
          <a:ln/>
        </p:spPr>
        <p:txBody>
          <a:bodyPr wrap="square" lIns="0" tIns="0" rIns="0" bIns="0" rtlCol="0" anchor="ctr"/>
          <a:lstStyle/>
          <a:p>
            <a:pPr algn="ctr" indent="0" marL="0">
              <a:buNone/>
            </a:pPr>
            <a:r>
              <a:rPr lang="en-US" sz="3800" b="1" dirty="0">
                <a:solidFill>
                  <a:schemeClr val="accent1"/>
                </a:solidFill>
              </a:rPr>
              <a:t>160</a:t>
            </a:r>
            <a:endParaRPr lang="en-US" sz="3800" dirty="0"/>
          </a:p>
        </p:txBody>
      </p:sp>
      <p:sp>
        <p:nvSpPr>
          <p:cNvPr id="12" name="Text 9"/>
          <p:cNvSpPr txBox="1"/>
          <p:nvPr/>
        </p:nvSpPr>
        <p:spPr>
          <a:xfrm>
            <a:off x="5257800" y="3611880"/>
            <a:ext cx="1600200" cy="365760"/>
          </a:xfrm>
          <a:prstGeom prst="rect">
            <a:avLst/>
          </a:prstGeom>
          <a:noFill/>
          <a:ln/>
        </p:spPr>
        <p:txBody>
          <a:bodyPr wrap="square" lIns="0" tIns="0" rIns="0" bIns="0" rtlCol="0" anchor="ctr"/>
          <a:lstStyle/>
          <a:p>
            <a:pPr algn="ctr" indent="0" marL="0">
              <a:buNone/>
            </a:pPr>
            <a:r>
              <a:rPr lang="en-US" sz="1400" dirty="0">
                <a:solidFill>
                  <a:schemeClr val="bg1"/>
                </a:solidFill>
              </a:rPr>
              <a:t>Maximum</a:t>
            </a:r>
            <a:endParaRPr lang="en-US" sz="1400" dirty="0"/>
          </a:p>
        </p:txBody>
      </p:sp>
      <p:sp>
        <p:nvSpPr>
          <p:cNvPr id="13" name="Stat card Minimum"/>
          <p:cNvSpPr/>
          <p:nvPr/>
        </p:nvSpPr>
        <p:spPr>
          <a:xfrm>
            <a:off x="7040880" y="2788920"/>
            <a:ext cx="1600200" cy="1417320"/>
          </a:xfrm>
          <a:prstGeom prst="roundRect">
            <a:avLst>
              <a:gd name="adj" fmla="val 6452"/>
            </a:avLst>
          </a:prstGeom>
          <a:solidFill>
            <a:schemeClr val="tx1"/>
          </a:solidFill>
          <a:ln/>
        </p:spPr>
      </p:sp>
      <p:sp>
        <p:nvSpPr>
          <p:cNvPr id="14" name="Text 11"/>
          <p:cNvSpPr txBox="1"/>
          <p:nvPr/>
        </p:nvSpPr>
        <p:spPr>
          <a:xfrm>
            <a:off x="7040880" y="2971800"/>
            <a:ext cx="1600200" cy="640080"/>
          </a:xfrm>
          <a:prstGeom prst="rect">
            <a:avLst/>
          </a:prstGeom>
          <a:noFill/>
          <a:ln/>
        </p:spPr>
        <p:txBody>
          <a:bodyPr wrap="square" lIns="0" tIns="0" rIns="0" bIns="0" rtlCol="0" anchor="ctr"/>
          <a:lstStyle/>
          <a:p>
            <a:pPr algn="ctr" indent="0" marL="0">
              <a:buNone/>
            </a:pPr>
            <a:r>
              <a:rPr lang="en-US" sz="3800" b="1" dirty="0">
                <a:solidFill>
                  <a:schemeClr val="accent1"/>
                </a:solidFill>
              </a:rPr>
              <a:t>10</a:t>
            </a:r>
            <a:endParaRPr lang="en-US" sz="3800" dirty="0"/>
          </a:p>
        </p:txBody>
      </p:sp>
      <p:sp>
        <p:nvSpPr>
          <p:cNvPr id="15" name="Text 12"/>
          <p:cNvSpPr txBox="1"/>
          <p:nvPr/>
        </p:nvSpPr>
        <p:spPr>
          <a:xfrm>
            <a:off x="7040880" y="3611880"/>
            <a:ext cx="1600200" cy="365760"/>
          </a:xfrm>
          <a:prstGeom prst="rect">
            <a:avLst/>
          </a:prstGeom>
          <a:noFill/>
          <a:ln/>
        </p:spPr>
        <p:txBody>
          <a:bodyPr wrap="square" lIns="0" tIns="0" rIns="0" bIns="0" rtlCol="0" anchor="ctr"/>
          <a:lstStyle/>
          <a:p>
            <a:pPr algn="ctr" indent="0" marL="0">
              <a:buNone/>
            </a:pPr>
            <a:r>
              <a:rPr lang="en-US" sz="1400" dirty="0">
                <a:solidFill>
                  <a:schemeClr val="bg1"/>
                </a:solidFill>
              </a:rPr>
              <a:t>Minimum</a:t>
            </a:r>
            <a:endParaRPr lang="en-US" sz="1400" dirty="0"/>
          </a:p>
        </p:txBody>
      </p:sp>
      <p:sp>
        <p:nvSpPr>
          <p:cNvPr id="16" name="Text 13"/>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400" i="1" dirty="0">
                <a:solidFill>
                  <a:schemeClr val="tx2"/>
                </a:solidFill>
              </a:rPr>
              <a:t>Matches manual check: 10 + 20 + ... + 160 = 1360, and 1360 ÷ 16 = 85.00</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3400" b="1" dirty="0">
                <a:solidFill>
                  <a:schemeClr val="bg1"/>
                </a:solidFill>
              </a:rPr>
              <a:t>Analysis and Conclusion</a:t>
            </a:r>
            <a:endParaRPr lang="en-US" sz="3400" dirty="0"/>
          </a:p>
        </p:txBody>
      </p:sp>
      <p:sp>
        <p:nvSpPr>
          <p:cNvPr id="3" name="Card What we observed"/>
          <p:cNvSpPr/>
          <p:nvPr/>
        </p:nvSpPr>
        <p:spPr>
          <a:xfrm>
            <a:off x="457200" y="1188720"/>
            <a:ext cx="2651760" cy="2697480"/>
          </a:xfrm>
          <a:prstGeom prst="roundRect">
            <a:avLst>
              <a:gd name="adj" fmla="val 3448"/>
            </a:avLst>
          </a:prstGeom>
          <a:solidFill>
            <a:schemeClr val="tx2"/>
          </a:solidFill>
          <a:ln/>
        </p:spPr>
      </p:sp>
      <p:sp>
        <p:nvSpPr>
          <p:cNvPr id="4" name="Text 2"/>
          <p:cNvSpPr txBox="1"/>
          <p:nvPr/>
        </p:nvSpPr>
        <p:spPr>
          <a:xfrm>
            <a:off x="640080" y="1325880"/>
            <a:ext cx="2286000" cy="411480"/>
          </a:xfrm>
          <a:prstGeom prst="rect">
            <a:avLst/>
          </a:prstGeom>
          <a:noFill/>
          <a:ln/>
        </p:spPr>
        <p:txBody>
          <a:bodyPr wrap="square" lIns="0" tIns="0" rIns="0" bIns="0" rtlCol="0" anchor="ctr"/>
          <a:lstStyle/>
          <a:p>
            <a:pPr indent="0" marL="0">
              <a:buNone/>
            </a:pPr>
            <a:r>
              <a:rPr lang="en-US" sz="1800" b="1" dirty="0">
                <a:solidFill>
                  <a:schemeClr val="accent1"/>
                </a:solidFill>
              </a:rPr>
              <a:t>What we observed</a:t>
            </a:r>
            <a:endParaRPr lang="en-US" sz="1800" dirty="0"/>
          </a:p>
        </p:txBody>
      </p:sp>
      <p:sp>
        <p:nvSpPr>
          <p:cNvPr id="5" name="Text 3"/>
          <p:cNvSpPr txBox="1"/>
          <p:nvPr/>
        </p:nvSpPr>
        <p:spPr>
          <a:xfrm>
            <a:off x="640080" y="1828800"/>
            <a:ext cx="228600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Work split evenly: 4 numbers per rank</a:t>
            </a:r>
            <a:endParaRPr lang="en-US" sz="1400" dirty="0"/>
          </a:p>
          <a:p>
            <a:pPr marL="342900" indent="-342900">
              <a:spcAft>
                <a:spcPts val="800"/>
              </a:spcAft>
              <a:buSzPct val="100000"/>
              <a:buChar char="•"/>
            </a:pPr>
            <a:r>
              <a:rPr lang="en-US" sz="1400" dirty="0">
                <a:solidFill>
                  <a:schemeClr val="bg1"/>
                </a:solidFill>
              </a:rPr>
              <a:t>Only 3 small values sent back per rank</a:t>
            </a:r>
            <a:endParaRPr lang="en-US" sz="1400" dirty="0"/>
          </a:p>
          <a:p>
            <a:pPr marL="342900" indent="-342900">
              <a:spcAft>
                <a:spcPts val="800"/>
              </a:spcAft>
              <a:buSzPct val="100000"/>
              <a:buChar char="•"/>
            </a:pPr>
            <a:r>
              <a:rPr lang="en-US" sz="1400" dirty="0">
                <a:solidFill>
                  <a:schemeClr val="bg1"/>
                </a:solidFill>
              </a:rPr>
              <a:t>Result matches the manual check</a:t>
            </a:r>
            <a:endParaRPr lang="en-US" sz="1400" dirty="0"/>
          </a:p>
        </p:txBody>
      </p:sp>
      <p:sp>
        <p:nvSpPr>
          <p:cNvPr id="6" name="Card Limitations"/>
          <p:cNvSpPr/>
          <p:nvPr/>
        </p:nvSpPr>
        <p:spPr>
          <a:xfrm>
            <a:off x="3246120" y="1188720"/>
            <a:ext cx="2651760" cy="2697480"/>
          </a:xfrm>
          <a:prstGeom prst="roundRect">
            <a:avLst>
              <a:gd name="adj" fmla="val 3448"/>
            </a:avLst>
          </a:prstGeom>
          <a:solidFill>
            <a:schemeClr val="tx2"/>
          </a:solidFill>
          <a:ln/>
        </p:spPr>
      </p:sp>
      <p:sp>
        <p:nvSpPr>
          <p:cNvPr id="7" name="Text 5"/>
          <p:cNvSpPr txBox="1"/>
          <p:nvPr/>
        </p:nvSpPr>
        <p:spPr>
          <a:xfrm>
            <a:off x="3429000" y="1325880"/>
            <a:ext cx="2286000" cy="411480"/>
          </a:xfrm>
          <a:prstGeom prst="rect">
            <a:avLst/>
          </a:prstGeom>
          <a:noFill/>
          <a:ln/>
        </p:spPr>
        <p:txBody>
          <a:bodyPr wrap="square" lIns="0" tIns="0" rIns="0" bIns="0" rtlCol="0" anchor="ctr"/>
          <a:lstStyle/>
          <a:p>
            <a:pPr indent="0" marL="0">
              <a:buNone/>
            </a:pPr>
            <a:r>
              <a:rPr lang="en-US" sz="1800" b="1" dirty="0">
                <a:solidFill>
                  <a:schemeClr val="accent1"/>
                </a:solidFill>
              </a:rPr>
              <a:t>Limitations</a:t>
            </a:r>
            <a:endParaRPr lang="en-US" sz="1800" dirty="0"/>
          </a:p>
        </p:txBody>
      </p:sp>
      <p:sp>
        <p:nvSpPr>
          <p:cNvPr id="8" name="Text 6"/>
          <p:cNvSpPr txBox="1"/>
          <p:nvPr/>
        </p:nvSpPr>
        <p:spPr>
          <a:xfrm>
            <a:off x="3429000" y="1828800"/>
            <a:ext cx="228600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Fixed size: 16 numbers, 4 processes</a:t>
            </a:r>
            <a:endParaRPr lang="en-US" sz="1400" dirty="0"/>
          </a:p>
          <a:p>
            <a:pPr marL="342900" indent="-342900">
              <a:spcAft>
                <a:spcPts val="800"/>
              </a:spcAft>
              <a:buSzPct val="100000"/>
              <a:buChar char="•"/>
            </a:pPr>
            <a:r>
              <a:rPr lang="en-US" sz="1400" dirty="0">
                <a:solidFill>
                  <a:schemeClr val="bg1"/>
                </a:solidFill>
              </a:rPr>
              <a:t>No execution time measured</a:t>
            </a:r>
            <a:endParaRPr lang="en-US" sz="1400" dirty="0"/>
          </a:p>
          <a:p>
            <a:pPr marL="342900" indent="-342900">
              <a:spcAft>
                <a:spcPts val="800"/>
              </a:spcAft>
              <a:buSzPct val="100000"/>
              <a:buChar char="•"/>
            </a:pPr>
            <a:r>
              <a:rPr lang="en-US" sz="1400" dirty="0">
                <a:solidFill>
                  <a:schemeClr val="bg1"/>
                </a:solidFill>
              </a:rPr>
              <a:t>Too small to show speedup</a:t>
            </a:r>
            <a:endParaRPr lang="en-US" sz="1400" dirty="0"/>
          </a:p>
        </p:txBody>
      </p:sp>
      <p:sp>
        <p:nvSpPr>
          <p:cNvPr id="9" name="Card Next steps"/>
          <p:cNvSpPr/>
          <p:nvPr/>
        </p:nvSpPr>
        <p:spPr>
          <a:xfrm>
            <a:off x="6035040" y="1188720"/>
            <a:ext cx="2651760" cy="2697480"/>
          </a:xfrm>
          <a:prstGeom prst="roundRect">
            <a:avLst>
              <a:gd name="adj" fmla="val 3448"/>
            </a:avLst>
          </a:prstGeom>
          <a:solidFill>
            <a:schemeClr val="tx2"/>
          </a:solidFill>
          <a:ln/>
        </p:spPr>
      </p:sp>
      <p:sp>
        <p:nvSpPr>
          <p:cNvPr id="10" name="Text 8"/>
          <p:cNvSpPr txBox="1"/>
          <p:nvPr/>
        </p:nvSpPr>
        <p:spPr>
          <a:xfrm>
            <a:off x="6217920" y="1325880"/>
            <a:ext cx="2286000" cy="411480"/>
          </a:xfrm>
          <a:prstGeom prst="rect">
            <a:avLst/>
          </a:prstGeom>
          <a:noFill/>
          <a:ln/>
        </p:spPr>
        <p:txBody>
          <a:bodyPr wrap="square" lIns="0" tIns="0" rIns="0" bIns="0" rtlCol="0" anchor="ctr"/>
          <a:lstStyle/>
          <a:p>
            <a:pPr indent="0" marL="0">
              <a:buNone/>
            </a:pPr>
            <a:r>
              <a:rPr lang="en-US" sz="1800" b="1" dirty="0">
                <a:solidFill>
                  <a:schemeClr val="accent1"/>
                </a:solidFill>
              </a:rPr>
              <a:t>Next steps</a:t>
            </a:r>
            <a:endParaRPr lang="en-US" sz="1800" dirty="0"/>
          </a:p>
        </p:txBody>
      </p:sp>
      <p:sp>
        <p:nvSpPr>
          <p:cNvPr id="11" name="Text 9"/>
          <p:cNvSpPr txBox="1"/>
          <p:nvPr/>
        </p:nvSpPr>
        <p:spPr>
          <a:xfrm>
            <a:off x="6217920" y="1828800"/>
            <a:ext cx="228600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Use millions of numbers</a:t>
            </a:r>
            <a:endParaRPr lang="en-US" sz="1400" dirty="0"/>
          </a:p>
          <a:p>
            <a:pPr marL="342900" indent="-342900">
              <a:spcAft>
                <a:spcPts val="800"/>
              </a:spcAft>
              <a:buSzPct val="100000"/>
              <a:buChar char="•"/>
            </a:pPr>
            <a:r>
              <a:rPr lang="en-US" sz="1400" dirty="0">
                <a:solidFill>
                  <a:schemeClr val="bg1"/>
                </a:solidFill>
              </a:rPr>
              <a:t>Time runs with MPI_Wtime</a:t>
            </a:r>
            <a:endParaRPr lang="en-US" sz="1400" dirty="0"/>
          </a:p>
          <a:p>
            <a:pPr marL="342900" indent="-342900">
              <a:spcAft>
                <a:spcPts val="800"/>
              </a:spcAft>
              <a:buSzPct val="100000"/>
              <a:buChar char="•"/>
            </a:pPr>
            <a:r>
              <a:rPr lang="en-US" sz="1400" dirty="0">
                <a:solidFill>
                  <a:schemeClr val="bg1"/>
                </a:solidFill>
              </a:rPr>
              <a:t>Use MPI_Scatterv for any size</a:t>
            </a:r>
            <a:endParaRPr lang="en-US" sz="1400" dirty="0"/>
          </a:p>
        </p:txBody>
      </p:sp>
      <p:sp>
        <p:nvSpPr>
          <p:cNvPr id="12" name="Conclusion strip"/>
          <p:cNvSpPr/>
          <p:nvPr/>
        </p:nvSpPr>
        <p:spPr>
          <a:xfrm>
            <a:off x="457200" y="4023360"/>
            <a:ext cx="8229600" cy="594360"/>
          </a:xfrm>
          <a:prstGeom prst="roundRect">
            <a:avLst>
              <a:gd name="adj" fmla="val 15385"/>
            </a:avLst>
          </a:prstGeom>
          <a:solidFill>
            <a:schemeClr val="accent1"/>
          </a:solidFill>
          <a:ln/>
        </p:spPr>
      </p:sp>
      <p:sp>
        <p:nvSpPr>
          <p:cNvPr id="13" name="Text 11"/>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400" b="1" dirty="0">
                <a:solidFill>
                  <a:schemeClr val="tx1"/>
                </a:solidFill>
              </a:rPr>
              <a:t>MPI_Scatter and MPI_Reduce correctly computed Sum 1360, Average 85.00, Max 160, Min 10.</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MPI Lab">
  <a:themeElements>
    <a:clrScheme name="MPI Lab">
      <a:dk1>
        <a:srgbClr val="0B1F33"/>
      </a:dk1>
      <a:lt1>
        <a:srgbClr val="FFFFFF"/>
      </a:lt1>
      <a:dk2>
        <a:srgbClr val="14384F"/>
      </a:dk2>
      <a:lt2>
        <a:srgbClr val="E8F3F3"/>
      </a:lt2>
      <a:accent1>
        <a:srgbClr val="0FA3A3"/>
      </a:accent1>
      <a:accent2>
        <a:srgbClr val="F2A93B"/>
      </a:accent2>
      <a:accent3>
        <a:srgbClr val="3A7CA5"/>
      </a:accent3>
      <a:accent4>
        <a:srgbClr val="8A99A8"/>
      </a:accent4>
      <a:accent5>
        <a:srgbClr val="D9534F"/>
      </a:accent5>
      <a:accent6>
        <a:srgbClr val="5CB85C"/>
      </a:accent6>
      <a:hlink>
        <a:srgbClr val="0FA3A3"/>
      </a:hlink>
      <a:folHlink>
        <a:srgbClr val="8A99A8"/>
      </a:folHlink>
    </a:clrScheme>
    <a:fontScheme name="MPI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Dataset Statistics using MPI</dc:title>
  <dc:subject>PptxGenJS Presentation</dc:subject>
  <dc:creator>B1 Team 6</dc:creator>
  <cp:lastModifiedBy>B1 Team 6</cp:lastModifiedBy>
  <cp:revision>1</cp:revision>
  <dcterms:created xsi:type="dcterms:W3CDTF">2026-10-07T11:15:49Z</dcterms:created>
  <dcterms:modified xsi:type="dcterms:W3CDTF">2026-10-07T11:15:49Z</dcterms:modified>
</cp:coreProperties>
</file>